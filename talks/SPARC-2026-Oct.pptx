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embeddedFontLst>
    <p:embeddedFont>
      <p:font typeface="Raleway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Ralew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aleway-italic.fntdata"/><Relationship Id="rId50" Type="http://schemas.openxmlformats.org/officeDocument/2006/relationships/font" Target="fonts/Raleway-bold.fntdata"/><Relationship Id="rId52" Type="http://schemas.openxmlformats.org/officeDocument/2006/relationships/font" Target="fonts/Raleway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100d21b7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100d21b7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100d21b7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100d21b7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100d21b7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100d21b7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100d21b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100d21b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100d21b7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100d21b7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100d21b75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100d21b75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100d21b7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e100d21b7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100d21b7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e100d21b7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100d21b7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e100d21b7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100d21b75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100d21b75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100d21b7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100d21b7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100d21b75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e100d21b75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130a0ad1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130a0ad1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130a0ad1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130a0ad1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130a0ad1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e130a0ad1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e130a0ad1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e130a0ad1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e130a0ad1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e130a0ad1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130a0ad1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130a0ad1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e130a0ad1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e130a0ad1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e100d21b7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e100d21b7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100d21b75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100d21b75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45c65c9ab571b835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h45c65c9ab571b835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45c65c9ab571b83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h45c65c9ab571b83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130a0ad1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e130a0ad1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e130a0ad1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e130a0ad1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e130a0ad1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e130a0ad1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e130a0ad1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e130a0ad1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3d85eb87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3d85eb87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3f6950b5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3f6950b5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45c65c9ab571b835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h45c65c9ab571b835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3f6950b5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3f6950b5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3f6950b5d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3f6950b5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45c65c9ab571b835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h45c65c9ab571b835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3f6950b5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3f6950b5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45c65c9ab571b835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h45c65c9ab571b835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3f6950b5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3f6950b5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h45c65c9ab571b835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h45c65c9ab571b835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h45c65c9ab571b835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h45c65c9ab571b835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45c65c9ab571b835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h45c65c9ab571b835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45c65c9ab571b835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h45c65c9ab571b835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3f6950b5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3f6950b5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h45c65c9ab571b835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h45c65c9ab571b835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45c65c9ab571b835_79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h45c65c9ab571b835_79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stemWide-gold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247008"/>
            <a:ext cx="9144000" cy="89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noFill/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stemWide-maroon.png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247008"/>
            <a:ext cx="9144000" cy="89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Font typeface="Raleway"/>
              <a:buNone/>
              <a:defRPr sz="2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  <a:defRPr sz="1800"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  <a:defRPr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  <a:defRPr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jpg"/><Relationship Id="rId10" Type="http://schemas.openxmlformats.org/officeDocument/2006/relationships/image" Target="../media/image14.jpg"/><Relationship Id="rId13" Type="http://schemas.openxmlformats.org/officeDocument/2006/relationships/image" Target="../media/image16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9.jpg"/><Relationship Id="rId5" Type="http://schemas.openxmlformats.org/officeDocument/2006/relationships/image" Target="../media/image6.png"/><Relationship Id="rId6" Type="http://schemas.openxmlformats.org/officeDocument/2006/relationships/image" Target="../media/image31.png"/><Relationship Id="rId7" Type="http://schemas.openxmlformats.org/officeDocument/2006/relationships/image" Target="../media/image10.png"/><Relationship Id="rId8" Type="http://schemas.openxmlformats.org/officeDocument/2006/relationships/image" Target="../media/image2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9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1.png"/><Relationship Id="rId7" Type="http://schemas.openxmlformats.org/officeDocument/2006/relationships/image" Target="../media/image29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hyperlink" Target="https://arxiv.org/abs/2308.09388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9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50.png"/><Relationship Id="rId6" Type="http://schemas.openxmlformats.org/officeDocument/2006/relationships/image" Target="../media/image33.png"/><Relationship Id="rId7" Type="http://schemas.openxmlformats.org/officeDocument/2006/relationships/hyperlink" Target="https://arxiv.org/abs/2308.0938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0.png"/><Relationship Id="rId4" Type="http://schemas.openxmlformats.org/officeDocument/2006/relationships/image" Target="../media/image25.png"/><Relationship Id="rId5" Type="http://schemas.openxmlformats.org/officeDocument/2006/relationships/hyperlink" Target="https://arxiv.org/abs/2005.0600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5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hyperlink" Target="https://arxiv.org/abs/2308.09388" TargetMode="External"/><Relationship Id="rId6" Type="http://schemas.openxmlformats.org/officeDocument/2006/relationships/image" Target="../media/image33.png"/><Relationship Id="rId7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36.png"/><Relationship Id="rId5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3.png"/><Relationship Id="rId4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5.png"/><Relationship Id="rId4" Type="http://schemas.openxmlformats.org/officeDocument/2006/relationships/image" Target="../media/image8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Relationship Id="rId5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Relationship Id="rId4" Type="http://schemas.openxmlformats.org/officeDocument/2006/relationships/image" Target="../media/image55.png"/><Relationship Id="rId5" Type="http://schemas.openxmlformats.org/officeDocument/2006/relationships/image" Target="../media/image8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3.png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0.png"/><Relationship Id="rId4" Type="http://schemas.openxmlformats.org/officeDocument/2006/relationships/image" Target="../media/image8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8.png"/><Relationship Id="rId4" Type="http://schemas.openxmlformats.org/officeDocument/2006/relationships/hyperlink" Target="https://arxiv.org/abs/2405.16749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4.png"/><Relationship Id="rId4" Type="http://schemas.openxmlformats.org/officeDocument/2006/relationships/image" Target="../media/image5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Relationship Id="rId4" Type="http://schemas.openxmlformats.org/officeDocument/2006/relationships/hyperlink" Target="https://arxiv.org/abs/2503.14863" TargetMode="External"/><Relationship Id="rId5" Type="http://schemas.openxmlformats.org/officeDocument/2006/relationships/hyperlink" Target="https://arxiv.org/abs/2503.14863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Relationship Id="rId4" Type="http://schemas.openxmlformats.org/officeDocument/2006/relationships/hyperlink" Target="https://github.com/facebookresearch/flow_matching" TargetMode="External"/><Relationship Id="rId5" Type="http://schemas.openxmlformats.org/officeDocument/2006/relationships/hyperlink" Target="https://neurips.cc/virtual/2024/tutorial/99531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6.png"/><Relationship Id="rId4" Type="http://schemas.openxmlformats.org/officeDocument/2006/relationships/image" Target="../media/image77.png"/><Relationship Id="rId5" Type="http://schemas.openxmlformats.org/officeDocument/2006/relationships/image" Target="../media/image67.png"/><Relationship Id="rId6" Type="http://schemas.openxmlformats.org/officeDocument/2006/relationships/image" Target="../media/image69.png"/><Relationship Id="rId7" Type="http://schemas.openxmlformats.org/officeDocument/2006/relationships/image" Target="../media/image8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5.png"/><Relationship Id="rId4" Type="http://schemas.openxmlformats.org/officeDocument/2006/relationships/image" Target="../media/image70.jpg"/><Relationship Id="rId5" Type="http://schemas.openxmlformats.org/officeDocument/2006/relationships/image" Target="../media/image7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2.png"/><Relationship Id="rId4" Type="http://schemas.openxmlformats.org/officeDocument/2006/relationships/image" Target="../media/image8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9.png"/><Relationship Id="rId4" Type="http://schemas.openxmlformats.org/officeDocument/2006/relationships/hyperlink" Target="https://sun-umn.github.io/xm-plu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521150"/>
            <a:ext cx="8520600" cy="12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Plug-In Diffusion and Flow-Matching Priors for Inverse Problems</a:t>
            </a:r>
            <a:endParaRPr sz="37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45025" y="18898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Ju Sun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Computer Science &amp; Engineering, UMN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Oct 28, 2026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787350" y="3460975"/>
            <a:ext cx="75693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SPARC Exchange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Inverse Problems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0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Inverse problems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2845375" y="1740100"/>
            <a:ext cx="1192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5027575" y="1740100"/>
            <a:ext cx="1192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4037575" y="1926450"/>
            <a:ext cx="99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3&quot;,&quot;font&quot;:{&quot;color&quot;:&quot;#000000&quot;,&quot;size&quot;:30,&quot;family&quot;:&quot;Arial&quot;},&quot;backgroundColor&quot;:&quot;#ffffff&quot;,&quot;backgroundColorModified&quot;:null,&quot;aid&quot;:null,&quot;code&quot;:&quot;$$\\mathbf{x}$$&quot;,&quot;type&quot;:&quot;$$&quot;,&quot;ts&quot;:1639549228405,&quot;cs&quot;:&quot;7EK5uP/DdXVzQUb6KRcaYA==&quot;,&quot;size&quot;:{&quot;width&quot;:27,&quot;height&quot;:21}}"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888" y="1926438"/>
            <a:ext cx="2571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mathbf{y}$$&quot;,&quot;backgroundColor&quot;:&quot;#ffffff&quot;,&quot;font&quot;:{&quot;color&quot;:&quot;#000000&quot;,&quot;size&quot;:30,&quot;family&quot;:&quot;Arial&quot;},&quot;id&quot;:&quot;4&quot;,&quot;backgroundColorModified&quot;:null,&quot;type&quot;:&quot;$$&quot;,&quot;aid&quot;:null,&quot;ts&quot;:1639549276202,&quot;cs&quot;:&quot;gBHQPmfNWm0+Agn4R/Al8Q==&quot;,&quot;size&quot;:{&quot;width&quot;:26.5,&quot;height&quot;:30.333333333333332}}"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075" y="1881988"/>
            <a:ext cx="252413" cy="28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null,&quot;aid&quot;:null,&quot;type&quot;:&quot;$$&quot;,&quot;code&quot;:&quot;$$f$$&quot;,&quot;font&quot;:{&quot;family&quot;:&quot;Arial&quot;,&quot;size&quot;:30,&quot;color&quot;:&quot;#000000&quot;},&quot;id&quot;:&quot;5&quot;,&quot;ts&quot;:1639549313292,&quot;cs&quot;:&quot;RHOcV7j15VaDsMWjvqxFSA==&quot;,&quot;size&quot;:{&quot;width&quot;:23.5,&quot;height&quot;:43}}"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0650" y="1330525"/>
            <a:ext cx="223838" cy="40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16"/>
          <p:cNvCxnSpPr/>
          <p:nvPr/>
        </p:nvCxnSpPr>
        <p:spPr>
          <a:xfrm rot="10800000">
            <a:off x="4037575" y="2170925"/>
            <a:ext cx="990000" cy="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  <p:pic>
        <p:nvPicPr>
          <p:cNvPr descr="{&quot;code&quot;:&quot;$$f^{-1}$$&quot;,&quot;type&quot;:&quot;$$&quot;,&quot;font&quot;:{&quot;size&quot;:30,&quot;family&quot;:&quot;Arial&quot;,&quot;color&quot;:&quot;#000000&quot;},&quot;aid&quot;:null,&quot;id&quot;:&quot;6&quot;,&quot;backgroundColor&quot;:&quot;#ffffff&quot;,&quot;backgroundColorModified&quot;:null,&quot;ts&quot;:1639549569119,&quot;cs&quot;:&quot;4zptGNvAmWKuV6D9ecnw5g==&quot;,&quot;size&quot;:{&quot;width&quot;:66.16666666666667,&quot;height&quot;:51.333333333333336}}"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7450" y="2327275"/>
            <a:ext cx="630238" cy="4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2525" y="1510325"/>
            <a:ext cx="2478475" cy="117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2525" y="3218325"/>
            <a:ext cx="2478474" cy="130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93338" y="3035169"/>
            <a:ext cx="2478475" cy="1569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91425" y="1520325"/>
            <a:ext cx="2578550" cy="12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44175" y="3106600"/>
            <a:ext cx="2221409" cy="15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364575" y="2684950"/>
            <a:ext cx="56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Image denoising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71013" y="4611425"/>
            <a:ext cx="22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Image super-resolution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547250" y="4611425"/>
            <a:ext cx="16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3D reconstruction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6887575" y="2739250"/>
            <a:ext cx="20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MRI reconstruction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128875" y="4611425"/>
            <a:ext cx="35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Coherent diffraction imaging (CDI)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570075" y="515250"/>
            <a:ext cx="5095500" cy="461700"/>
          </a:xfrm>
          <a:prstGeom prst="rect">
            <a:avLst/>
          </a:prstGeom>
          <a:noFill/>
          <a:ln cap="flat" cmpd="sng" w="19050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Inverse problem: given                     ,   recover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{&quot;type&quot;:&quot;$$&quot;,&quot;aid&quot;:null,&quot;id&quot;:&quot;8&quot;,&quot;font&quot;:{&quot;size&quot;:18,&quot;color&quot;:&quot;#000000&quot;,&quot;family&quot;:&quot;Arial&quot;},&quot;backgroundColorModified&quot;:null,&quot;backgroundColor&quot;:&quot;#ffffff&quot;,&quot;code&quot;:&quot;$$\\mathbf{y\\,=\\,}f\\left(\\mathbf{x}\\right)$$&quot;,&quot;ts&quot;:1639551140858,&quot;cs&quot;:&quot;hTgo1h1YylwL6uLh1KPCTg==&quot;,&quot;size&quot;:{&quot;width&quot;:118.66666666666667,&quot;height&quot;:28.333333333333332}}" id="92" name="Google Shape;92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30025" y="611163"/>
            <a:ext cx="1130300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size&quot;:18,&quot;family&quot;:&quot;Arial&quot;,&quot;color&quot;:&quot;#000000&quot;},&quot;id&quot;:&quot;9&quot;,&quot;code&quot;:&quot;$$\\mathbf{x}$$&quot;,&quot;type&quot;:&quot;$$&quot;,&quot;backgroundColor&quot;:&quot;#ffffff&quot;,&quot;backgroundColorModified&quot;:null,&quot;ts&quot;:1639551212800,&quot;cs&quot;:&quot;XEPXBYmJOQbJ0QylovyR+w==&quot;,&quot;size&quot;:{&quot;width&quot;:16.333333333333332,&quot;height&quot;:12.666666666666666}}" id="93" name="Google Shape;93;p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96275" y="685788"/>
            <a:ext cx="155575" cy="1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methods </a:t>
            </a:r>
            <a:endParaRPr/>
          </a:p>
        </p:txBody>
      </p:sp>
      <p:pic>
        <p:nvPicPr>
          <p:cNvPr descr="{&quot;aid&quot;:null,&quot;backgroundColor&quot;:&quot;#ffffff&quot;,&quot;id&quot;:&quot;7&quot;,&quot;type&quot;:&quot;$$&quot;,&quot;code&quot;:&quot;$$\\min_{\\mathbf{x}}\\underbrace{\\,\\ell(\\mathbf{y},\\,f(\\mathbf{x}))}_{\\text{data}\\;\\text{fitting}}\\,+\\lambda \\underbrace{\\text{R(}\\mathbf{x}\\text{)}}_{\\text{regularizer}}$$&quot;,&quot;font&quot;:{&quot;size&quot;:30,&quot;family&quot;:&quot;Arial&quot;,&quot;color&quot;:&quot;#000000&quot;},&quot;backgroundColorModified&quot;:null,&quot;ts&quot;:1639550917269,&quot;cs&quot;:&quot;4XpCLmlzP4JSdKhgw9pCOA==&quot;,&quot;size&quot;:{&quot;width&quot;:542.5,&quot;height&quot;:117.5}}"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323" y="2031513"/>
            <a:ext cx="4529408" cy="9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711425" y="1257300"/>
            <a:ext cx="704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Inverse problem: given                     ,   recover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{&quot;type&quot;:&quot;$$&quot;,&quot;aid&quot;:null,&quot;id&quot;:&quot;8&quot;,&quot;font&quot;:{&quot;size&quot;:18,&quot;color&quot;:&quot;#000000&quot;,&quot;family&quot;:&quot;Arial&quot;},&quot;backgroundColorModified&quot;:null,&quot;backgroundColor&quot;:&quot;#ffffff&quot;,&quot;code&quot;:&quot;$$\\mathbf{y\\,=\\,}f\\left(\\mathbf{x}\\right)$$&quot;,&quot;ts&quot;:1639551140858,&quot;cs&quot;:&quot;hTgo1h1YylwL6uLh1KPCTg==&quot;,&quot;size&quot;:{&quot;width&quot;:118.66666666666667,&quot;height&quot;:28.333333333333332}}"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1375" y="1353213"/>
            <a:ext cx="1130300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size&quot;:18,&quot;family&quot;:&quot;Arial&quot;,&quot;color&quot;:&quot;#000000&quot;},&quot;id&quot;:&quot;9&quot;,&quot;code&quot;:&quot;$$\\mathbf{x}$$&quot;,&quot;type&quot;:&quot;$$&quot;,&quot;backgroundColor&quot;:&quot;#ffffff&quot;,&quot;backgroundColorModified&quot;:null,&quot;ts&quot;:1639551212800,&quot;cs&quot;:&quot;XEPXBYmJOQbJ0QylovyR+w==&quot;,&quot;size&quot;:{&quot;width&quot;:16.333333333333332,&quot;height&quot;:12.666666666666666}}" id="102" name="Google Shape;10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7625" y="1427838"/>
            <a:ext cx="155575" cy="1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895950" y="3223425"/>
            <a:ext cx="7352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Questions</a:t>
            </a: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Which    ?  (e.g., unknown/compound noise)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Which    ?  (e.g., structures not amenable to math description)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Recovery quality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Computational speed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{&quot;aid&quot;:null,&quot;backgroundColorModified&quot;:null,&quot;type&quot;:&quot;$$&quot;,&quot;code&quot;:&quot;$$\\ell$$&quot;,&quot;id&quot;:&quot;10&quot;,&quot;backgroundColor&quot;:&quot;#ffffff&quot;,&quot;font&quot;:{&quot;size&quot;:18,&quot;family&quot;:&quot;Arial&quot;,&quot;color&quot;:&quot;#000000&quot;},&quot;ts&quot;:1639551452787,&quot;cs&quot;:&quot;MNK3588cqbi67QI2qIbz+w==&quot;,&quot;size&quot;:{&quot;width&quot;:11.333333333333334,&quot;height&quot;:20.5}}" id="104" name="Google Shape;10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9350" y="3654175"/>
            <a:ext cx="107950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null,&quot;type&quot;:&quot;$$&quot;,&quot;code&quot;:&quot;$$R$$&quot;,&quot;font&quot;:{&quot;color&quot;:&quot;#000000&quot;,&quot;size&quot;:18,&quot;family&quot;:&quot;Raleway&quot;},&quot;backgroundColor&quot;:&quot;#ffffff&quot;,&quot;id&quot;:&quot;11&quot;,&quot;aid&quot;:null,&quot;ts&quot;:1639551488088,&quot;cs&quot;:&quot;wC8cE7ebSqzApjFx57L3Nw==&quot;,&quot;size&quot;:{&quot;width&quot;:18,&quot;height&quot;:17.166666666666668}}" id="105" name="Google Shape;10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67600" y="3916450"/>
            <a:ext cx="171450" cy="16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6678550" y="2031525"/>
            <a:ext cx="171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RegFit</a:t>
            </a:r>
            <a:endParaRPr b="1" sz="2600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has changed everything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paired datasets </a:t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5173" y="506400"/>
            <a:ext cx="2881874" cy="44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1476050" y="1098800"/>
            <a:ext cx="1988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Direct</a:t>
            </a: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 inversion 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311700" y="1557575"/>
            <a:ext cx="3477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Learn         from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{&quot;code&quot;:&quot;$$f^{-1}$$&quot;,&quot;font&quot;:{&quot;color&quot;:&quot;#000000&quot;,&quot;family&quot;:&quot;Arial&quot;,&quot;size&quot;:18},&quot;backgroundColor&quot;:&quot;#ffffff&quot;,&quot;id&quot;:&quot;12&quot;,&quot;aid&quot;:null,&quot;type&quot;:&quot;$$&quot;,&quot;backgroundColorModified&quot;:null,&quot;ts&quot;:1639552031710,&quot;cs&quot;:&quot;xidpkh9d7mEV41EKYl96AA==&quot;,&quot;size&quot;:{&quot;width&quot;:39.666666666666664,&quot;height&quot;:30.666666666666668}}"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8225" y="1600375"/>
            <a:ext cx="377825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725" y="1571975"/>
            <a:ext cx="2419122" cy="3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763" y="2204000"/>
            <a:ext cx="4507874" cy="19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5583275" y="1098800"/>
            <a:ext cx="29979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Algorithm unrolling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872900" y="2770150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latin typeface="Raleway"/>
                <a:ea typeface="Raleway"/>
                <a:cs typeface="Raleway"/>
                <a:sym typeface="Raleway"/>
              </a:rPr>
              <a:t>Idea</a:t>
            </a: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: make       trainable 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{&quot;aid&quot;:null,&quot;backgroundColor&quot;:&quot;#ffffff&quot;,&quot;id&quot;:&quot;7&quot;,&quot;type&quot;:&quot;$$&quot;,&quot;code&quot;:&quot;$$\\min_{\\mathbf{x}}\\underbrace{\\,\\ell(\\mathbf{y},\\,f(\\mathbf{x}))}_{\\text{data}\\;\\text{fitting}}\\,+\\lambda \\underbrace{\\text{R(}\\mathbf{x}\\text{)}}_{\\text{regularizer}}$$&quot;,&quot;font&quot;:{&quot;size&quot;:30,&quot;family&quot;:&quot;Arial&quot;,&quot;color&quot;:&quot;#000000&quot;},&quot;backgroundColorModified&quot;:null,&quot;ts&quot;:1639550917269,&quot;cs&quot;:&quot;4XpCLmlzP4JSdKhgw9pCOA==&quot;,&quot;size&quot;:{&quot;width&quot;:542.5,&quot;height&quot;:117.5}}" id="125" name="Google Shape;12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3824" y="1637459"/>
            <a:ext cx="3257357" cy="705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5815000" y="1949675"/>
            <a:ext cx="1355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7522650" y="1892475"/>
            <a:ext cx="1355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{&quot;type&quot;:&quot;$$&quot;,&quot;backgroundColor&quot;:&quot;#ffffff&quot;,&quot;backgroundColorModified&quot;:null,&quot;code&quot;:&quot;$$\\mathbf{x}^{k+1}\\,=\\,\\mathcal{P}_{R}\\left(\\mathbf{x}^{k}\\,-\\,\\eta\\nabla^{\\top}f\\left(\\mathbf{x}^{k}\\right)\\ell^{\\prime}\\left(\\mathbf{y},\\,f(\\mathbf{x}^{k})\\right)\\,\\right)$$&quot;,&quot;id&quot;:&quot;17&quot;,&quot;font&quot;:{&quot;family&quot;:&quot;Arial&quot;,&quot;color&quot;:&quot;#000000&quot;,&quot;size&quot;:18},&quot;aid&quot;:null,&quot;ts&quot;:1639583014118,&quot;cs&quot;:&quot;365OuEcODgwbm/QMJDZ0pg==&quot;,&quot;size&quot;:{&quot;width&quot;:505.5,&quot;height&quot;:35.5}}" id="128" name="Google Shape;12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2900" y="2345588"/>
            <a:ext cx="4159196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null,&quot;font&quot;:{&quot;family&quot;:&quot;Raleway&quot;,&quot;size&quot;:18,&quot;color&quot;:&quot;#000000&quot;},&quot;backgroundColor&quot;:&quot;#ffffff&quot;,&quot;code&quot;:&quot;$$\\mathcal{P}_{R}$$&quot;,&quot;id&quot;:&quot;19&quot;,&quot;aid&quot;:null,&quot;type&quot;:&quot;$$&quot;,&quot;ts&quot;:1639583378102,&quot;cs&quot;:&quot;5Xi0hceTfdJY/5WtFKEH0A==&quot;,&quot;size&quot;:{&quot;width&quot;:29.5,&quot;height&quot;:20.666666666666668}}" id="129" name="Google Shape;129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2500" y="2884550"/>
            <a:ext cx="280988" cy="1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82500" y="3294977"/>
            <a:ext cx="4159199" cy="78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paired datasets 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5173" y="506400"/>
            <a:ext cx="2881874" cy="44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1476050" y="1098800"/>
            <a:ext cx="5583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Conditional generation &amp; regularization  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350" y="1624225"/>
            <a:ext cx="2085500" cy="356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2325" y="4060001"/>
            <a:ext cx="2766149" cy="9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900" y="4272875"/>
            <a:ext cx="5524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4225" y="2650925"/>
            <a:ext cx="68580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3304375" y="2465225"/>
            <a:ext cx="161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DeblurGAN</a:t>
            </a:r>
            <a:endParaRPr b="1"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59550" y="1752425"/>
            <a:ext cx="3317118" cy="163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87501" y="3667001"/>
            <a:ext cx="3644799" cy="110005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6954400" y="3220650"/>
            <a:ext cx="111000" cy="522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7289400" y="3195300"/>
            <a:ext cx="161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SR3</a:t>
            </a:r>
            <a:endParaRPr b="1"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5187500" y="4703575"/>
            <a:ext cx="409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</a:t>
            </a:r>
            <a:r>
              <a:rPr lang="en" u="sng">
                <a:solidFill>
                  <a:schemeClr val="hlink"/>
                </a:solidFill>
                <a:hlinkClick r:id="rId10"/>
              </a:rPr>
              <a:t>https://arxiv.org/abs/2308.09388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object datasets only </a:t>
            </a:r>
            <a:endParaRPr/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225" y="495554"/>
            <a:ext cx="2032850" cy="4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616000" y="1404850"/>
            <a:ext cx="27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GAN Inversion </a:t>
            </a:r>
            <a:r>
              <a:rPr b="1" lang="en" sz="16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6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{&quot;id&quot;:&quot;21&quot;,&quot;backgroundColor&quot;:&quot;#ffffff&quot;,&quot;aid&quot;:null,&quot;type&quot;:&quot;$$&quot;,&quot;backgroundColorModified&quot;:null,&quot;code&quot;:&quot;$$\\mathbf{\\mathbf{\\mathbf{x}}}_{i}\\,\\approx\\,G_{\\theta}\\,\\left(\\mathbf{z}_{i}\\right)\\,\\,\\,\\forall\\,i$$&quot;,&quot;font&quot;:{&quot;color&quot;:&quot;#000000&quot;,&quot;size&quot;:18,&quot;family&quot;:&quot;Arial&quot;},&quot;ts&quot;:1639584798742,&quot;cs&quot;:&quot;J2/XQxikGnDqTagX66Nnxg==&quot;,&quot;size&quot;:{&quot;width&quot;:196.66666666666666,&quot;height&quot;:28.333333333333332}}" id="155" name="Google Shape;15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6988" y="1785275"/>
            <a:ext cx="1873250" cy="2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1135688" y="1736700"/>
            <a:ext cx="28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Pretraining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: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1135688" y="2181063"/>
            <a:ext cx="28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Deployment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: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{&quot;backgroundColorModified&quot;:true,&quot;code&quot;:&quot;$$\\min_{\\mathbb{\\mathbf{z}}}\\,\\,\\ell\\left(\\mathbf{y},\\,f\\circ G_{\\theta}\\left(\\mathbf{z}\\right)\\right)\\,+\\,\\lambda R\\,\\circ G_{\\theta}\\,\\left(\\mathbf{z}\\right)$$&quot;,&quot;type&quot;:&quot;$$&quot;,&quot;backgroundColor&quot;:&quot;#ffffff&quot;,&quot;aid&quot;:null,&quot;font&quot;:{&quot;color&quot;:&quot;#000000&quot;,&quot;size&quot;:18,&quot;family&quot;:&quot;Arial&quot;},&quot;id&quot;:&quot;22&quot;,&quot;ts&quot;:1639585201831,&quot;cs&quot;:&quot;q1bILe04XDHcCi8yNwzJag==&quot;,&quot;size&quot;:{&quot;width&quot;:423.6666666666667,&quot;height&quot;:38.333333333333336}}" id="158" name="Google Shape;15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6538" y="2198588"/>
            <a:ext cx="4035425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616013" y="1017725"/>
            <a:ext cx="81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Model the distribution of the objects first, and then plug in the prior 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7977" y="2926402"/>
            <a:ext cx="3768023" cy="20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616000" y="2707200"/>
            <a:ext cx="721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Interleaving pretrained diffusion models (more on this later)  </a:t>
            </a:r>
            <a:endParaRPr b="1" sz="16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4665375" y="4759125"/>
            <a:ext cx="409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https://arxiv.org/abs/2308.09388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</a:t>
            </a:r>
            <a:r>
              <a:rPr lang="en"/>
              <a:t> datasets? Single-instance methods </a:t>
            </a:r>
            <a:endParaRPr/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100" y="1017725"/>
            <a:ext cx="6055800" cy="162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500" y="2770601"/>
            <a:ext cx="5955799" cy="2372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00" y="596775"/>
            <a:ext cx="5495975" cy="410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8675" y="1506548"/>
            <a:ext cx="3049900" cy="816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6" name="Google Shape;176;p23"/>
          <p:cNvSpPr txBox="1"/>
          <p:nvPr/>
        </p:nvSpPr>
        <p:spPr>
          <a:xfrm>
            <a:off x="5903625" y="23233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https://arxiv.org/abs/2005.06001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0019"/>
                </a:solidFill>
              </a:rPr>
              <a:t>But focused on linear IPs </a:t>
            </a:r>
            <a:r>
              <a:rPr b="1" lang="en" sz="1800">
                <a:solidFill>
                  <a:srgbClr val="7A0019"/>
                </a:solidFill>
              </a:rPr>
              <a:t> </a:t>
            </a:r>
            <a:endParaRPr b="1" sz="1800">
              <a:solidFill>
                <a:srgbClr val="7A001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311700" y="394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specialized surveys </a:t>
            </a:r>
            <a:endParaRPr/>
          </a:p>
        </p:txBody>
      </p:sp>
      <p:pic>
        <p:nvPicPr>
          <p:cNvPr id="182" name="Google Shape;1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75" y="1034050"/>
            <a:ext cx="5114527" cy="894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3" name="Google Shape;183;p24"/>
          <p:cNvSpPr txBox="1"/>
          <p:nvPr/>
        </p:nvSpPr>
        <p:spPr>
          <a:xfrm>
            <a:off x="1171425" y="2117388"/>
            <a:ext cx="4887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5537300" y="12506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0019"/>
                </a:solidFill>
              </a:rPr>
              <a:t>Focused on alg. unrolling </a:t>
            </a:r>
            <a:r>
              <a:rPr b="1" lang="en" sz="1800">
                <a:solidFill>
                  <a:srgbClr val="7A0019"/>
                </a:solidFill>
              </a:rPr>
              <a:t> </a:t>
            </a:r>
            <a:endParaRPr b="1" sz="1800">
              <a:solidFill>
                <a:srgbClr val="7A0019"/>
              </a:solidFill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75" y="2192113"/>
            <a:ext cx="5114524" cy="1118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86" name="Google Shape;18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9325" y="2706412"/>
            <a:ext cx="5693076" cy="97293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7" name="Google Shape;187;p24"/>
          <p:cNvSpPr txBox="1"/>
          <p:nvPr/>
        </p:nvSpPr>
        <p:spPr>
          <a:xfrm>
            <a:off x="5952100" y="24089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0019"/>
                </a:solidFill>
              </a:rPr>
              <a:t>Focused on single-instance methods </a:t>
            </a:r>
            <a:endParaRPr b="1" sz="1800">
              <a:solidFill>
                <a:srgbClr val="7A0019"/>
              </a:solidFill>
            </a:endParaRPr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9798" y="3147855"/>
            <a:ext cx="4975027" cy="105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775" y="4084375"/>
            <a:ext cx="5936577" cy="1059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0" name="Google Shape;190;p24"/>
          <p:cNvSpPr txBox="1"/>
          <p:nvPr/>
        </p:nvSpPr>
        <p:spPr>
          <a:xfrm>
            <a:off x="6144000" y="41399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0019"/>
                </a:solidFill>
              </a:rPr>
              <a:t>Focused on theories for linear IPs</a:t>
            </a:r>
            <a:endParaRPr b="1" sz="1800">
              <a:solidFill>
                <a:srgbClr val="7A001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218900" y="16471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This talk</a:t>
            </a:r>
            <a:r>
              <a:rPr lang="en"/>
              <a:t>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Solving Inverse Problems (IPs)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Using Pretrained 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u="sng"/>
              <a:t>Diffusion</a:t>
            </a:r>
            <a:r>
              <a:rPr lang="en" sz="3300"/>
              <a:t> &amp; Flow-Matching Models</a:t>
            </a:r>
            <a:r>
              <a:rPr lang="en"/>
              <a:t> </a:t>
            </a:r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500" y="3590275"/>
            <a:ext cx="6917002" cy="1226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models </a:t>
            </a:r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3">
            <a:alphaModFix/>
          </a:blip>
          <a:srcRect b="13753" l="2731" r="2760" t="13212"/>
          <a:stretch/>
        </p:blipFill>
        <p:spPr>
          <a:xfrm>
            <a:off x="539425" y="1703800"/>
            <a:ext cx="8354024" cy="192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813" y="1246575"/>
            <a:ext cx="5229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100" y="3725650"/>
            <a:ext cx="810577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6"/>
          <p:cNvSpPr txBox="1"/>
          <p:nvPr/>
        </p:nvSpPr>
        <p:spPr>
          <a:xfrm>
            <a:off x="3715400" y="3787200"/>
            <a:ext cx="2310600" cy="572700"/>
          </a:xfrm>
          <a:prstGeom prst="rect">
            <a:avLst/>
          </a:prstGeom>
          <a:noFill/>
          <a:ln cap="flat" cmpd="sng" w="28575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4885700" y="4492375"/>
            <a:ext cx="114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Score</a:t>
            </a:r>
            <a:r>
              <a:rPr b="1" lang="en" sz="1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models for inverse problems (IPs) </a:t>
            </a:r>
            <a:endParaRPr/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00" y="1552475"/>
            <a:ext cx="3317118" cy="163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51" y="3467051"/>
            <a:ext cx="3644799" cy="110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/>
          <p:nvPr/>
        </p:nvSpPr>
        <p:spPr>
          <a:xfrm>
            <a:off x="2255250" y="3020700"/>
            <a:ext cx="111000" cy="522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2590250" y="2995350"/>
            <a:ext cx="161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SR3</a:t>
            </a:r>
            <a:endParaRPr b="1"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488350" y="4503625"/>
            <a:ext cx="409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https://arxiv.org/abs/2308.09388</a:t>
            </a:r>
            <a:r>
              <a:rPr lang="en"/>
              <a:t> </a:t>
            </a:r>
            <a:endParaRPr/>
          </a:p>
        </p:txBody>
      </p:sp>
      <p:sp>
        <p:nvSpPr>
          <p:cNvPr id="217" name="Google Shape;217;p27"/>
          <p:cNvSpPr txBox="1"/>
          <p:nvPr/>
        </p:nvSpPr>
        <p:spPr>
          <a:xfrm>
            <a:off x="1449150" y="1041950"/>
            <a:ext cx="2921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Supervised 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4164" y="2778027"/>
            <a:ext cx="3768023" cy="20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/>
        </p:nvSpPr>
        <p:spPr>
          <a:xfrm>
            <a:off x="5642788" y="1041938"/>
            <a:ext cx="2921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Zero-shot 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7">
            <a:alphaModFix/>
          </a:blip>
          <a:srcRect b="13753" l="2731" r="2760" t="13212"/>
          <a:stretch/>
        </p:blipFill>
        <p:spPr>
          <a:xfrm>
            <a:off x="4398662" y="1609499"/>
            <a:ext cx="4299051" cy="989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Focus</a:t>
            </a:r>
            <a:r>
              <a:rPr lang="en"/>
              <a:t>: IPs with pretrained diffusion models </a:t>
            </a:r>
            <a:endParaRPr/>
          </a:p>
        </p:txBody>
      </p:sp>
      <p:pic>
        <p:nvPicPr>
          <p:cNvPr id="226" name="Google Shape;2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60810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8"/>
          <p:cNvSpPr/>
          <p:nvPr/>
        </p:nvSpPr>
        <p:spPr>
          <a:xfrm>
            <a:off x="4493050" y="1865350"/>
            <a:ext cx="1554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4755300" y="1930625"/>
            <a:ext cx="4077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Think of</a:t>
            </a: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 conditional score</a:t>
            </a: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124" y="2525175"/>
            <a:ext cx="780186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4116775"/>
            <a:ext cx="8839197" cy="59333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/>
          <p:nvPr/>
        </p:nvSpPr>
        <p:spPr>
          <a:xfrm>
            <a:off x="4493050" y="3384175"/>
            <a:ext cx="1554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4755300" y="3449450"/>
            <a:ext cx="4077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 Conditional reverse SDE</a:t>
            </a: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Coping with conditional score function </a:t>
            </a:r>
            <a:endParaRPr/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49" y="1247650"/>
            <a:ext cx="7801864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/>
        </p:nvSpPr>
        <p:spPr>
          <a:xfrm>
            <a:off x="3337675" y="1247650"/>
            <a:ext cx="2099700" cy="572700"/>
          </a:xfrm>
          <a:prstGeom prst="rect">
            <a:avLst/>
          </a:prstGeom>
          <a:noFill/>
          <a:ln cap="flat" cmpd="sng" w="28575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0" name="Google Shape;24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3874" y="2314950"/>
            <a:ext cx="3077401" cy="23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 txBox="1"/>
          <p:nvPr/>
        </p:nvSpPr>
        <p:spPr>
          <a:xfrm>
            <a:off x="5837250" y="1247650"/>
            <a:ext cx="2407500" cy="572700"/>
          </a:xfrm>
          <a:prstGeom prst="rect">
            <a:avLst/>
          </a:prstGeom>
          <a:noFill/>
          <a:ln cap="flat" cmpd="sng" w="28575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6948150" y="1965325"/>
            <a:ext cx="166500" cy="488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000" y="2725150"/>
            <a:ext cx="2901894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449" y="3706650"/>
            <a:ext cx="3940382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 txBox="1"/>
          <p:nvPr/>
        </p:nvSpPr>
        <p:spPr>
          <a:xfrm>
            <a:off x="124250" y="3651125"/>
            <a:ext cx="277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Raleway"/>
                <a:ea typeface="Raleway"/>
                <a:cs typeface="Raleway"/>
                <a:sym typeface="Raleway"/>
              </a:rPr>
              <a:t>≅</a:t>
            </a:r>
            <a:endParaRPr sz="5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4147850" y="1923325"/>
            <a:ext cx="138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Learned </a:t>
            </a:r>
            <a:r>
              <a:rPr b="1" lang="en" sz="1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Interleaving methods: interleave &gt;=2 iterative processes </a:t>
            </a:r>
            <a:endParaRPr sz="2500"/>
          </a:p>
        </p:txBody>
      </p:sp>
      <p:pic>
        <p:nvPicPr>
          <p:cNvPr id="252" name="Google Shape;2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51703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503" y="1170125"/>
            <a:ext cx="408925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 I</a:t>
            </a:r>
            <a:r>
              <a:rPr lang="en"/>
              <a:t>: Measurement feasibility </a:t>
            </a:r>
            <a:endParaRPr/>
          </a:p>
        </p:txBody>
      </p:sp>
      <p:pic>
        <p:nvPicPr>
          <p:cNvPr id="259" name="Google Shape;2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9013" y="959050"/>
            <a:ext cx="571993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950" y="1092375"/>
            <a:ext cx="3537950" cy="33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 II: </a:t>
            </a:r>
            <a:r>
              <a:rPr lang="en"/>
              <a:t>Manifold feasibility </a:t>
            </a:r>
            <a:endParaRPr/>
          </a:p>
        </p:txBody>
      </p:sp>
      <p:pic>
        <p:nvPicPr>
          <p:cNvPr id="266" name="Google Shape;2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900"/>
            <a:ext cx="630539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7099" y="0"/>
            <a:ext cx="22594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solution: DMPlug</a:t>
            </a:r>
            <a:endParaRPr/>
          </a:p>
        </p:txBody>
      </p:sp>
      <p:pic>
        <p:nvPicPr>
          <p:cNvPr id="273" name="Google Shape;2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338" y="1322525"/>
            <a:ext cx="771731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solution: DMPlug</a:t>
            </a:r>
            <a:endParaRPr/>
          </a:p>
        </p:txBody>
      </p:sp>
      <p:pic>
        <p:nvPicPr>
          <p:cNvPr id="279" name="Google Shape;2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570050"/>
            <a:ext cx="8839200" cy="66746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4"/>
          <p:cNvSpPr txBox="1"/>
          <p:nvPr/>
        </p:nvSpPr>
        <p:spPr>
          <a:xfrm>
            <a:off x="382675" y="1065475"/>
            <a:ext cx="6132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Raleway"/>
                <a:ea typeface="Raleway"/>
                <a:cs typeface="Raleway"/>
                <a:sym typeface="Raleway"/>
              </a:rPr>
              <a:t>Viewing the reverse process as a function  </a:t>
            </a:r>
            <a:endParaRPr b="1" sz="20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81" name="Google Shape;28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9175" y="1080488"/>
            <a:ext cx="374725" cy="4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467688"/>
            <a:ext cx="8839199" cy="57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 txBox="1"/>
          <p:nvPr/>
        </p:nvSpPr>
        <p:spPr>
          <a:xfrm>
            <a:off x="4393050" y="2543000"/>
            <a:ext cx="633300" cy="504600"/>
          </a:xfrm>
          <a:prstGeom prst="rect">
            <a:avLst/>
          </a:prstGeom>
          <a:noFill/>
          <a:ln cap="flat" cmpd="sng" w="28575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4248650" y="3576125"/>
            <a:ext cx="1744200" cy="667500"/>
          </a:xfrm>
          <a:prstGeom prst="wedgeRoundRectCallout">
            <a:avLst>
              <a:gd fmla="val -19634" name="adj1"/>
              <a:gd fmla="val -12489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Manifold </a:t>
            </a: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feasibility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5" name="Google Shape;285;p34"/>
          <p:cNvSpPr txBox="1"/>
          <p:nvPr/>
        </p:nvSpPr>
        <p:spPr>
          <a:xfrm>
            <a:off x="3334550" y="2383275"/>
            <a:ext cx="1980600" cy="742800"/>
          </a:xfrm>
          <a:prstGeom prst="rect">
            <a:avLst/>
          </a:prstGeom>
          <a:noFill/>
          <a:ln cap="flat" cmpd="sng" w="28575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1079425" y="3717425"/>
            <a:ext cx="2524800" cy="1214100"/>
          </a:xfrm>
          <a:prstGeom prst="wedgeRoundRectCallout">
            <a:avLst>
              <a:gd fmla="val 38563" name="adj1"/>
              <a:gd fmla="val -9091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Measurement </a:t>
            </a: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 feasibility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6252150" y="3837900"/>
            <a:ext cx="27393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Also: </a:t>
            </a:r>
            <a:br>
              <a:rPr lang="en" sz="1600"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6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Latent/seed optimization,</a:t>
            </a:r>
            <a:endParaRPr b="1" sz="16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D-Flow </a:t>
            </a:r>
            <a:endParaRPr b="1" sz="16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Overcoming the computational bottleneck </a:t>
            </a:r>
            <a:endParaRPr/>
          </a:p>
        </p:txBody>
      </p:sp>
      <p:pic>
        <p:nvPicPr>
          <p:cNvPr id="293" name="Google Shape;2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50" y="1192325"/>
            <a:ext cx="8839200" cy="667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59788"/>
            <a:ext cx="8839199" cy="57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5"/>
          <p:cNvSpPr txBox="1"/>
          <p:nvPr/>
        </p:nvSpPr>
        <p:spPr>
          <a:xfrm>
            <a:off x="416000" y="2742950"/>
            <a:ext cx="3921600" cy="18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aleway"/>
                <a:ea typeface="Raleway"/>
                <a:cs typeface="Raleway"/>
                <a:sym typeface="Raleway"/>
              </a:rPr>
              <a:t>Issue</a:t>
            </a:r>
            <a:r>
              <a:rPr lang="en" sz="2400">
                <a:latin typeface="Raleway"/>
                <a:ea typeface="Raleway"/>
                <a:cs typeface="Raleway"/>
                <a:sym typeface="Raleway"/>
              </a:rPr>
              <a:t>: T blocks of DNNs involved, and we have to back-propagate through it </a:t>
            </a:r>
            <a:endParaRPr sz="2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96" name="Google Shape;29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8875" y="2468073"/>
            <a:ext cx="3713450" cy="273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 III: Robustness to unknown noise </a:t>
            </a:r>
            <a:endParaRPr/>
          </a:p>
        </p:txBody>
      </p:sp>
      <p:pic>
        <p:nvPicPr>
          <p:cNvPr id="302" name="Google Shape;3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950" y="1135150"/>
            <a:ext cx="4782350" cy="340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825" y="1373050"/>
            <a:ext cx="3921125" cy="302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6"/>
          <p:cNvSpPr/>
          <p:nvPr/>
        </p:nvSpPr>
        <p:spPr>
          <a:xfrm>
            <a:off x="3259925" y="4538250"/>
            <a:ext cx="3543900" cy="444300"/>
          </a:xfrm>
          <a:prstGeom prst="wedgeRectCallout">
            <a:avLst>
              <a:gd fmla="val 40303" name="adj1"/>
              <a:gd fmla="val -20752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depending on noise level 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achieve robustness to unknown noise? </a:t>
            </a:r>
            <a:endParaRPr/>
          </a:p>
        </p:txBody>
      </p:sp>
      <p:pic>
        <p:nvPicPr>
          <p:cNvPr id="310" name="Google Shape;31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753578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2250" y="1170125"/>
            <a:ext cx="4761575" cy="35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7"/>
          <p:cNvSpPr txBox="1"/>
          <p:nvPr/>
        </p:nvSpPr>
        <p:spPr>
          <a:xfrm>
            <a:off x="4426375" y="4631400"/>
            <a:ext cx="48873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Early-learning-then-overfitting (OLTO) </a:t>
            </a:r>
            <a:endParaRPr b="1"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linear IPs</a:t>
            </a:r>
            <a:endParaRPr/>
          </a:p>
        </p:txBody>
      </p:sp>
      <p:pic>
        <p:nvPicPr>
          <p:cNvPr id="318" name="Google Shape;31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810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</a:t>
            </a:r>
            <a:r>
              <a:rPr lang="en"/>
              <a:t>nonlinear</a:t>
            </a:r>
            <a:r>
              <a:rPr lang="en"/>
              <a:t> IPs </a:t>
            </a:r>
            <a:endParaRPr/>
          </a:p>
        </p:txBody>
      </p:sp>
      <p:pic>
        <p:nvPicPr>
          <p:cNvPr id="324" name="Google Shape;32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347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nonlinear IPs</a:t>
            </a:r>
            <a:endParaRPr/>
          </a:p>
        </p:txBody>
      </p:sp>
      <p:pic>
        <p:nvPicPr>
          <p:cNvPr id="330" name="Google Shape;33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188" y="1147900"/>
            <a:ext cx="86996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300" y="959900"/>
            <a:ext cx="6392126" cy="387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36" name="Google Shape;336;p41"/>
          <p:cNvSpPr txBox="1"/>
          <p:nvPr/>
        </p:nvSpPr>
        <p:spPr>
          <a:xfrm>
            <a:off x="4737425" y="4472100"/>
            <a:ext cx="4254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https://arxiv.org/abs/2405.16749</a:t>
            </a:r>
            <a:r>
              <a:rPr b="1" lang="en" sz="1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7" name="Google Shape;33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paper (NeurIPS’24)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DMPlug for video </a:t>
            </a:r>
            <a:r>
              <a:rPr lang="en"/>
              <a:t>restoration</a:t>
            </a:r>
            <a:r>
              <a:rPr lang="en"/>
              <a:t> </a:t>
            </a:r>
            <a:endParaRPr/>
          </a:p>
        </p:txBody>
      </p:sp>
      <p:pic>
        <p:nvPicPr>
          <p:cNvPr id="343" name="Google Shape;3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50" y="1036425"/>
            <a:ext cx="4039598" cy="2980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0150" y="1655248"/>
            <a:ext cx="4782526" cy="21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2"/>
          <p:cNvSpPr/>
          <p:nvPr/>
        </p:nvSpPr>
        <p:spPr>
          <a:xfrm>
            <a:off x="387100" y="4393175"/>
            <a:ext cx="8626800" cy="572700"/>
          </a:xfrm>
          <a:prstGeom prst="wedgeRectCallout">
            <a:avLst>
              <a:gd fmla="val -14952" name="adj1"/>
              <a:gd fmla="val -10589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Wang</a:t>
            </a:r>
            <a:r>
              <a:rPr lang="en" sz="20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 et al. </a:t>
            </a:r>
            <a:r>
              <a:rPr b="1" lang="en" sz="20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Temporal-Consistent Video Restoration with Pre-trained Diffusion Models</a:t>
            </a:r>
            <a:r>
              <a:rPr lang="en" sz="20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. AAAI 2026 </a:t>
            </a:r>
            <a:endParaRPr sz="20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details </a:t>
            </a:r>
            <a:endParaRPr/>
          </a:p>
        </p:txBody>
      </p:sp>
      <p:pic>
        <p:nvPicPr>
          <p:cNvPr id="351" name="Google Shape;35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275" y="1208474"/>
            <a:ext cx="7983452" cy="298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52" name="Google Shape;352;p43"/>
          <p:cNvSpPr txBox="1"/>
          <p:nvPr/>
        </p:nvSpPr>
        <p:spPr>
          <a:xfrm>
            <a:off x="4428875" y="3827875"/>
            <a:ext cx="4254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https://arxiv.org/abs/2503.14863</a:t>
            </a:r>
            <a:r>
              <a:rPr b="1" lang="en" sz="18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 </a:t>
            </a:r>
            <a:endParaRPr b="1"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>
            <p:ph type="title"/>
          </p:nvPr>
        </p:nvSpPr>
        <p:spPr>
          <a:xfrm>
            <a:off x="218900" y="16471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This talk</a:t>
            </a:r>
            <a:r>
              <a:rPr lang="en"/>
              <a:t>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Solving Inverse Problems (IPs)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Using Pretrained 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Diffusion &amp; </a:t>
            </a:r>
            <a:r>
              <a:rPr lang="en" sz="3300" u="sng"/>
              <a:t>Flow-Matching</a:t>
            </a:r>
            <a:r>
              <a:rPr lang="en" sz="3300"/>
              <a:t> Models</a:t>
            </a:r>
            <a:r>
              <a:rPr lang="en"/>
              <a:t> </a:t>
            </a:r>
            <a:endParaRPr/>
          </a:p>
        </p:txBody>
      </p:sp>
      <p:pic>
        <p:nvPicPr>
          <p:cNvPr id="358" name="Google Shape;3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500" y="3590275"/>
            <a:ext cx="6917002" cy="1226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 switch to flow-matching (FM) models </a:t>
            </a:r>
            <a:endParaRPr/>
          </a:p>
        </p:txBody>
      </p:sp>
      <p:pic>
        <p:nvPicPr>
          <p:cNvPr id="364" name="Google Shape;364;p45" title="teas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37" y="1361499"/>
            <a:ext cx="8325126" cy="18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5"/>
          <p:cNvSpPr txBox="1"/>
          <p:nvPr/>
        </p:nvSpPr>
        <p:spPr>
          <a:xfrm>
            <a:off x="3221875" y="4642725"/>
            <a:ext cx="825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Image 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credit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https://github.com/facebookresearch/flow_matching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2240875" y="3585513"/>
            <a:ext cx="6416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NeurIPS’25 tutorial: Flow Matching for Generative Modeling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https://neurips.cc/virtual/2024/tutorial/99531</a:t>
            </a: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FM-based </a:t>
            </a:r>
            <a:r>
              <a:rPr b="1" lang="en" u="sng"/>
              <a:t>foundational</a:t>
            </a:r>
            <a:r>
              <a:rPr lang="en"/>
              <a:t> generative models </a:t>
            </a:r>
            <a:endParaRPr/>
          </a:p>
        </p:txBody>
      </p:sp>
      <p:pic>
        <p:nvPicPr>
          <p:cNvPr id="372" name="Google Shape;37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4800"/>
            <a:ext cx="8839204" cy="375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/>
        </p:nvSpPr>
        <p:spPr>
          <a:xfrm>
            <a:off x="684725" y="378300"/>
            <a:ext cx="7620000" cy="27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rgbClr val="151719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Question: </a:t>
            </a:r>
            <a:br>
              <a:rPr b="1" lang="en" sz="3300">
                <a:solidFill>
                  <a:srgbClr val="151719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3300">
                <a:solidFill>
                  <a:srgbClr val="151719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Are foundation flow-based models more powerful as generative priors?</a:t>
            </a:r>
            <a:endParaRPr b="1" sz="3300">
              <a:solidFill>
                <a:srgbClr val="151719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78" name="Google Shape;37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250" y="2180875"/>
            <a:ext cx="7542748" cy="281011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79" name="Google Shape;379;p47"/>
          <p:cNvSpPr txBox="1"/>
          <p:nvPr/>
        </p:nvSpPr>
        <p:spPr>
          <a:xfrm>
            <a:off x="1955875" y="4131975"/>
            <a:ext cx="6510900" cy="778200"/>
          </a:xfrm>
          <a:prstGeom prst="rect">
            <a:avLst/>
          </a:prstGeom>
          <a:noFill/>
          <a:ln cap="flat" cmpd="sng" w="28575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Surprise? </a:t>
            </a:r>
            <a:endParaRPr/>
          </a:p>
        </p:txBody>
      </p:sp>
      <p:sp>
        <p:nvSpPr>
          <p:cNvPr id="385" name="Google Shape;385;p48"/>
          <p:cNvSpPr txBox="1"/>
          <p:nvPr/>
        </p:nvSpPr>
        <p:spPr>
          <a:xfrm>
            <a:off x="344750" y="4044275"/>
            <a:ext cx="88392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Foundation/Universal priors &lt;&lt; </a:t>
            </a:r>
            <a:endParaRPr b="1" sz="24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Domain-specific, and even untrained priors </a:t>
            </a:r>
            <a:endParaRPr b="1" sz="24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86" name="Google Shape;3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925" y="445025"/>
            <a:ext cx="5906199" cy="35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really surprising? </a:t>
            </a:r>
            <a:endParaRPr/>
          </a:p>
        </p:txBody>
      </p:sp>
      <p:sp>
        <p:nvSpPr>
          <p:cNvPr id="392" name="Google Shape;392;p49"/>
          <p:cNvSpPr txBox="1"/>
          <p:nvPr/>
        </p:nvSpPr>
        <p:spPr>
          <a:xfrm>
            <a:off x="726050" y="2126325"/>
            <a:ext cx="79554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Power in </a:t>
            </a:r>
            <a:r>
              <a:rPr b="1" lang="en" sz="24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generation                    Power in constraining </a:t>
            </a:r>
            <a:endParaRPr b="1" sz="2400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3" name="Google Shape;393;p49"/>
          <p:cNvSpPr/>
          <p:nvPr/>
        </p:nvSpPr>
        <p:spPr>
          <a:xfrm>
            <a:off x="3860950" y="1825575"/>
            <a:ext cx="1153800" cy="1153800"/>
          </a:xfrm>
          <a:prstGeom prst="mathNotEqual">
            <a:avLst>
              <a:gd fmla="val 23520" name="adj1"/>
              <a:gd fmla="val 6600000" name="adj2"/>
              <a:gd fmla="val 1176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close the gap: warm-start </a:t>
            </a:r>
            <a:endParaRPr/>
          </a:p>
        </p:txBody>
      </p:sp>
      <p:sp>
        <p:nvSpPr>
          <p:cNvPr id="399" name="Google Shape;399;p50"/>
          <p:cNvSpPr txBox="1"/>
          <p:nvPr/>
        </p:nvSpPr>
        <p:spPr>
          <a:xfrm>
            <a:off x="504300" y="1220650"/>
            <a:ext cx="528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Simple distortion setting:  x        y 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00" name="Google Shape;40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67" y="1819250"/>
            <a:ext cx="4434971" cy="468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298" y="2287320"/>
            <a:ext cx="4595040" cy="58560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0"/>
          <p:cNvSpPr txBox="1"/>
          <p:nvPr/>
        </p:nvSpPr>
        <p:spPr>
          <a:xfrm>
            <a:off x="5334100" y="1912382"/>
            <a:ext cx="1400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725" lIns="74725" spcFirstLastPara="1" rIns="74725" wrap="square" tIns="7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71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Exact flow </a:t>
            </a:r>
            <a:endParaRPr b="1" sz="1471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3" name="Google Shape;403;p50"/>
          <p:cNvSpPr txBox="1"/>
          <p:nvPr/>
        </p:nvSpPr>
        <p:spPr>
          <a:xfrm>
            <a:off x="5269104" y="2349272"/>
            <a:ext cx="1400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725" lIns="74725" spcFirstLastPara="1" rIns="74725" wrap="square" tIns="7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71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Approx.</a:t>
            </a:r>
            <a:r>
              <a:rPr b="1" lang="en" sz="1471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rPr>
              <a:t> flow </a:t>
            </a:r>
            <a:endParaRPr b="1" sz="1471">
              <a:solidFill>
                <a:srgbClr val="7A00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04" name="Google Shape;40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314" y="3000125"/>
            <a:ext cx="5362049" cy="609124"/>
          </a:xfrm>
          <a:prstGeom prst="rect">
            <a:avLst/>
          </a:prstGeom>
          <a:noFill/>
          <a:ln cap="flat" cmpd="sng" w="18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5" name="Google Shape;40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6125" y="1266454"/>
            <a:ext cx="448900" cy="41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9351" y="1819250"/>
            <a:ext cx="3605975" cy="308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Boosted performance </a:t>
            </a:r>
            <a:endParaRPr/>
          </a:p>
        </p:txBody>
      </p:sp>
      <p:sp>
        <p:nvSpPr>
          <p:cNvPr id="412" name="Google Shape;412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Gaussian Blur and Motion Blur on DIV2K 512 × 512 with additive Gaussian noise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Bold</a:t>
            </a:r>
            <a:r>
              <a:rPr lang="en"/>
              <a:t>: best, </a:t>
            </a:r>
            <a:r>
              <a:rPr lang="en" u="sng"/>
              <a:t>under</a:t>
            </a:r>
            <a:r>
              <a:rPr lang="en"/>
              <a:t>: second best; -P: prompt, -W: warm-start only</a:t>
            </a:r>
            <a:endParaRPr/>
          </a:p>
        </p:txBody>
      </p:sp>
      <p:pic>
        <p:nvPicPr>
          <p:cNvPr id="413" name="Google Shape;41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73" y="2352928"/>
            <a:ext cx="8472851" cy="2417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Boosted performance </a:t>
            </a:r>
            <a:endParaRPr/>
          </a:p>
        </p:txBody>
      </p:sp>
      <p:sp>
        <p:nvSpPr>
          <p:cNvPr id="419" name="Google Shape;41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Gaussian Deblur and Super Resolution 4X on AFHQ-Cat 256 × 256 with additive Gaussian noise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Bold</a:t>
            </a:r>
            <a:r>
              <a:rPr lang="en"/>
              <a:t>: best, </a:t>
            </a:r>
            <a:r>
              <a:rPr lang="en" u="sng"/>
              <a:t>under</a:t>
            </a:r>
            <a:r>
              <a:rPr lang="en"/>
              <a:t>: second best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20" name="Google Shape;42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203" y="2200823"/>
            <a:ext cx="7137591" cy="2602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Few-shot </a:t>
            </a:r>
            <a:r>
              <a:rPr lang="en"/>
              <a:t>scientific</a:t>
            </a:r>
            <a:r>
              <a:rPr lang="en"/>
              <a:t> setting </a:t>
            </a:r>
            <a:endParaRPr/>
          </a:p>
        </p:txBody>
      </p:sp>
      <p:pic>
        <p:nvPicPr>
          <p:cNvPr id="426" name="Google Shape;426;p53" title="few_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00" y="1066575"/>
            <a:ext cx="5262549" cy="3010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27" name="Google Shape;427;p53" title="instance_prio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0350" y="2083350"/>
            <a:ext cx="4578974" cy="29335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28" name="Google Shape;42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3825" y="3128771"/>
            <a:ext cx="9144003" cy="137070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pic>
        <p:nvPicPr>
          <p:cNvPr id="434" name="Google Shape;43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344" y="1017723"/>
            <a:ext cx="4575839" cy="179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4" title="Scientific_compariso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721" y="867975"/>
            <a:ext cx="5459554" cy="4178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details</a:t>
            </a:r>
            <a:endParaRPr/>
          </a:p>
        </p:txBody>
      </p:sp>
      <p:pic>
        <p:nvPicPr>
          <p:cNvPr id="441" name="Google Shape;4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38" y="1130350"/>
            <a:ext cx="8378327" cy="3820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 up </a:t>
            </a:r>
            <a:endParaRPr/>
          </a:p>
        </p:txBody>
      </p:sp>
      <p:sp>
        <p:nvSpPr>
          <p:cNvPr id="447" name="Google Shape;447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DMPlug: a plug-in method for solving IPs with pretrained diffusion models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— principled </a:t>
            </a:r>
            <a:r>
              <a:rPr b="1" lang="en"/>
              <a:t>manifold and measurement feasibility</a:t>
            </a:r>
            <a:r>
              <a:rPr lang="en"/>
              <a:t>, and </a:t>
            </a:r>
            <a:r>
              <a:rPr lang="en"/>
              <a:t>noise-handling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 and cons of foundational generative models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— powerful for generation, but </a:t>
            </a:r>
            <a:r>
              <a:rPr b="1" lang="en">
                <a:solidFill>
                  <a:schemeClr val="dk1"/>
                </a:solidFill>
              </a:rPr>
              <a:t>not necessarily</a:t>
            </a:r>
            <a:r>
              <a:rPr lang="en">
                <a:solidFill>
                  <a:schemeClr val="dk1"/>
                </a:solidFill>
              </a:rPr>
              <a:t> as generative priors in providing useful constraints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FMPlug: sample-based guidance for </a:t>
            </a:r>
            <a:r>
              <a:rPr lang="en"/>
              <a:t>additional</a:t>
            </a:r>
            <a:r>
              <a:rPr lang="en"/>
              <a:t> priors and faster </a:t>
            </a:r>
            <a:r>
              <a:rPr lang="en"/>
              <a:t>search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 </a:t>
            </a:r>
            <a:endParaRPr/>
          </a:p>
        </p:txBody>
      </p:sp>
      <p:pic>
        <p:nvPicPr>
          <p:cNvPr id="453" name="Google Shape;45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525" y="553475"/>
            <a:ext cx="5567252" cy="4104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54" name="Google Shape;454;p57"/>
          <p:cNvSpPr txBox="1"/>
          <p:nvPr/>
        </p:nvSpPr>
        <p:spPr>
          <a:xfrm>
            <a:off x="3136800" y="4580800"/>
            <a:ext cx="56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https://sun-umn.github.io/xm-plug/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